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3" r:id="rId2"/>
    <p:sldId id="281" r:id="rId3"/>
    <p:sldId id="268" r:id="rId4"/>
    <p:sldId id="282" r:id="rId5"/>
    <p:sldId id="284" r:id="rId6"/>
    <p:sldId id="285" r:id="rId7"/>
    <p:sldId id="288" r:id="rId8"/>
    <p:sldId id="289" r:id="rId9"/>
    <p:sldId id="275" r:id="rId10"/>
    <p:sldId id="276" r:id="rId11"/>
    <p:sldId id="291" r:id="rId12"/>
    <p:sldId id="292" r:id="rId13"/>
    <p:sldId id="278" r:id="rId14"/>
    <p:sldId id="294" r:id="rId15"/>
    <p:sldId id="29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834626D6-D0E4-124E-AD4C-62BF2E0745D5}">
          <p14:sldIdLst>
            <p14:sldId id="263"/>
            <p14:sldId id="281"/>
            <p14:sldId id="268"/>
            <p14:sldId id="282"/>
            <p14:sldId id="284"/>
            <p14:sldId id="285"/>
            <p14:sldId id="288"/>
            <p14:sldId id="289"/>
            <p14:sldId id="275"/>
            <p14:sldId id="276"/>
            <p14:sldId id="291"/>
            <p14:sldId id="292"/>
            <p14:sldId id="278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6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67"/>
    <p:restoredTop sz="96654"/>
  </p:normalViewPr>
  <p:slideViewPr>
    <p:cSldViewPr snapToGrid="0">
      <p:cViewPr varScale="1">
        <p:scale>
          <a:sx n="95" d="100"/>
          <a:sy n="95" d="100"/>
        </p:scale>
        <p:origin x="20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35D722-28D2-56F2-EB8F-1B446C7FC0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Equals </a:t>
            </a:r>
            <a:r>
              <a:rPr lang="de-DE" dirty="0" err="1"/>
              <a:t>vs</a:t>
            </a:r>
            <a:r>
              <a:rPr lang="de-DE"/>
              <a:t> ==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3EA004-A7C5-CDBB-6CC8-4449077B8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Einfach verkettete liste</a:t>
            </a:r>
          </a:p>
        </p:txBody>
      </p:sp>
    </p:spTree>
    <p:extLst>
      <p:ext uri="{BB962C8B-B14F-4D97-AF65-F5344CB8AC3E}">
        <p14:creationId xmlns:p14="http://schemas.microsoft.com/office/powerpoint/2010/main" val="835712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2AD1A7-E958-C2FC-15E8-D9A64B471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Enthält(Datenelement daten)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07FAB9-45F6-0E71-029C-408A93BF2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Liste stellt die Funktion </a:t>
            </a:r>
            <a:r>
              <a:rPr lang="de-D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enthält(</a:t>
            </a:r>
            <a:r>
              <a:rPr lang="de-D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DatenElement</a:t>
            </a:r>
            <a:r>
              <a:rPr lang="de-D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daten)</a:t>
            </a:r>
            <a:r>
              <a:rPr lang="de-DE" sz="2800" dirty="0"/>
              <a:t> zur Verfügung, um zu überprüfen, ob ein Element bereits in der Liste enthalten ist. </a:t>
            </a:r>
          </a:p>
        </p:txBody>
      </p:sp>
    </p:spTree>
    <p:extLst>
      <p:ext uri="{BB962C8B-B14F-4D97-AF65-F5344CB8AC3E}">
        <p14:creationId xmlns:p14="http://schemas.microsoft.com/office/powerpoint/2010/main" val="1624542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E04225-B352-23F6-4596-F4B07E5C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Überprüfen ob ein Element Enthalten ist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FF86D02-8832-4D42-A3F0-30B84AADB6FC}"/>
              </a:ext>
            </a:extLst>
          </p:cNvPr>
          <p:cNvSpPr txBox="1"/>
          <p:nvPr/>
        </p:nvSpPr>
        <p:spPr>
          <a:xfrm>
            <a:off x="302174" y="1971715"/>
            <a:ext cx="6101080" cy="14020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</a:pP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// Klasse </a:t>
            </a:r>
            <a:r>
              <a:rPr lang="de-DE" dirty="0" err="1">
                <a:solidFill>
                  <a:srgbClr val="608B4E"/>
                </a:solidFill>
                <a:latin typeface="Consolas" panose="020B0609020204030204" pitchFamily="49" charset="0"/>
              </a:rPr>
              <a:t>ListenElement</a:t>
            </a:r>
            <a:endParaRPr lang="de-DE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499CD6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enthält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DatenElement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anfang</a:t>
            </a:r>
            <a:r>
              <a:rPr lang="de-DE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enthält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DA04999-385D-04D7-908E-13ECF5769160}"/>
              </a:ext>
            </a:extLst>
          </p:cNvPr>
          <p:cNvSpPr txBox="1"/>
          <p:nvPr/>
        </p:nvSpPr>
        <p:spPr>
          <a:xfrm>
            <a:off x="5387340" y="3242271"/>
            <a:ext cx="6101080" cy="27357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608B4E"/>
                </a:solidFill>
                <a:effectLst/>
                <a:latin typeface="Consolas" panose="020B0609020204030204" pitchFamily="49" charset="0"/>
              </a:rPr>
              <a:t>//Klasse Knoten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499CD6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enthält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DatenElement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de-DE" b="1" dirty="0" err="1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de-DE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   }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nachfolger</a:t>
            </a:r>
            <a:r>
              <a:rPr lang="de-DE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enthält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   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489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CBB36D-BADE-A32C-C7DC-1A711714A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Equals oder ==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D3A36A-54B1-F02F-B015-E6D58A62B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08F2467-E6C5-B46B-773A-8CC2C9655EC7}"/>
              </a:ext>
            </a:extLst>
          </p:cNvPr>
          <p:cNvSpPr txBox="1"/>
          <p:nvPr/>
        </p:nvSpPr>
        <p:spPr>
          <a:xfrm>
            <a:off x="1451578" y="2015733"/>
            <a:ext cx="9511061" cy="34025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taxi1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"Heiner"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taxi2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"Heiner"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taxi1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taxi2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taxi1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"Heiner"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));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"jetzt mit .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taxi1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i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taxi2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2625"/>
              </a:lnSpc>
              <a:buNone/>
            </a:pP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658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B89C1-867F-63FF-48F7-0AA67A28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9AD47F-93DC-BC7F-4CA4-3300B171A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Equals oder ==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8D747D-9C27-ED6D-2E1C-E7343D27B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F5945F5-FD6E-66FC-AD81-FDAF1386CC2F}"/>
              </a:ext>
            </a:extLst>
          </p:cNvPr>
          <p:cNvSpPr txBox="1"/>
          <p:nvPr/>
        </p:nvSpPr>
        <p:spPr>
          <a:xfrm>
            <a:off x="1451579" y="2015733"/>
            <a:ext cx="5985542" cy="34025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taxi1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"Heiner"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taxi2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"Heiner"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taxi1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taxi2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taxi1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"Heiner"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));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"jetzt mit .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taxi1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i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taxi2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2625"/>
              </a:lnSpc>
              <a:buNone/>
            </a:pP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9BB8D6B-C54D-3CBF-21CC-CFCD77804F6A}"/>
              </a:ext>
            </a:extLst>
          </p:cNvPr>
          <p:cNvSpPr txBox="1"/>
          <p:nvPr/>
        </p:nvSpPr>
        <p:spPr>
          <a:xfrm>
            <a:off x="7685930" y="4466271"/>
            <a:ext cx="6101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effectLst/>
              </a:rPr>
              <a:t>jetzt mit .</a:t>
            </a:r>
            <a:r>
              <a:rPr lang="de-DE" dirty="0" err="1">
                <a:effectLst/>
              </a:rPr>
              <a:t>equals</a:t>
            </a:r>
            <a:r>
              <a:rPr lang="de-DE" dirty="0">
                <a:effectLst/>
              </a:rPr>
              <a:t>:</a:t>
            </a:r>
            <a:endParaRPr lang="de-DE" dirty="0"/>
          </a:p>
          <a:p>
            <a:pPr>
              <a:buNone/>
            </a:pPr>
            <a:r>
              <a:rPr lang="de-DE" dirty="0" err="1">
                <a:effectLst/>
              </a:rPr>
              <a:t>true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567F3E7-F335-6C3A-40EC-1D2A8F05649D}"/>
              </a:ext>
            </a:extLst>
          </p:cNvPr>
          <p:cNvSpPr txBox="1"/>
          <p:nvPr/>
        </p:nvSpPr>
        <p:spPr>
          <a:xfrm>
            <a:off x="7685930" y="3059668"/>
            <a:ext cx="6898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effectLst/>
              </a:rPr>
              <a:t>false</a:t>
            </a:r>
            <a:endParaRPr lang="de-DE" dirty="0">
              <a:effectLst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FE5CA48-EBD8-27BC-0F60-9DC03E0DE56E}"/>
              </a:ext>
            </a:extLst>
          </p:cNvPr>
          <p:cNvSpPr txBox="1"/>
          <p:nvPr/>
        </p:nvSpPr>
        <p:spPr>
          <a:xfrm>
            <a:off x="7685930" y="3743196"/>
            <a:ext cx="729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effectLst/>
              </a:rPr>
              <a:t>false</a:t>
            </a:r>
            <a:endParaRPr lang="de-D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53297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18842-472E-4037-E7F4-874C99F0C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BB9D5-581D-62E4-645E-04344E828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Enthält(Datenelement daten)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9BBF64-4C32-20AB-167A-17C1C469F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Liste stellt die Funktion </a:t>
            </a:r>
            <a:r>
              <a:rPr lang="de-D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enthält(</a:t>
            </a:r>
            <a:r>
              <a:rPr lang="de-D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DatenElement</a:t>
            </a:r>
            <a:r>
              <a:rPr lang="de-D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daten)</a:t>
            </a:r>
            <a:r>
              <a:rPr lang="de-DE" sz="2800" dirty="0"/>
              <a:t> zur Verfügung, um zu überprüfen, ob ein Element bereits in der Liste enthalten ist. </a:t>
            </a:r>
          </a:p>
          <a:p>
            <a:r>
              <a:rPr lang="de-DE" sz="2800" dirty="0"/>
              <a:t>Um sicherzustellen, dass die Gleichheitsprüfung geling, sollte das Interface </a:t>
            </a:r>
            <a:r>
              <a:rPr lang="de-D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DatenElement</a:t>
            </a:r>
            <a:r>
              <a:rPr lang="de-DE" sz="2800" dirty="0">
                <a:cs typeface="Courier New" panose="02070309020205020404" pitchFamily="49" charset="0"/>
              </a:rPr>
              <a:t> </a:t>
            </a:r>
            <a:r>
              <a:rPr lang="de-DE" sz="2800" dirty="0"/>
              <a:t>die Implementation einer Methode </a:t>
            </a:r>
            <a:r>
              <a:rPr lang="de-D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equals</a:t>
            </a:r>
            <a:r>
              <a:rPr lang="de-D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DatenElement</a:t>
            </a:r>
            <a:r>
              <a:rPr lang="de-D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daten) </a:t>
            </a:r>
            <a:r>
              <a:rPr lang="de-DE" sz="2800" dirty="0"/>
              <a:t>sicherstellen. </a:t>
            </a:r>
          </a:p>
          <a:p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2546968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2919D-C393-1A28-8419-89DBA9D2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4CFD3D-BD1B-AAB3-A6F9-E10535B08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Überprüfen ob ein Element Enthalten ist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F5C9EC4-C6A8-0A62-077B-B473909970C9}"/>
              </a:ext>
            </a:extLst>
          </p:cNvPr>
          <p:cNvSpPr txBox="1"/>
          <p:nvPr/>
        </p:nvSpPr>
        <p:spPr>
          <a:xfrm>
            <a:off x="302174" y="1971715"/>
            <a:ext cx="6101080" cy="14020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</a:pP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// Klasse </a:t>
            </a:r>
            <a:r>
              <a:rPr lang="de-DE" dirty="0" err="1">
                <a:solidFill>
                  <a:srgbClr val="608B4E"/>
                </a:solidFill>
                <a:latin typeface="Consolas" panose="020B0609020204030204" pitchFamily="49" charset="0"/>
              </a:rPr>
              <a:t>ListenElement</a:t>
            </a:r>
            <a:endParaRPr lang="de-DE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499CD6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enthält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DatenElement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anfang</a:t>
            </a:r>
            <a:r>
              <a:rPr lang="de-DE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enthält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F6A17DE-24F1-EB40-0D11-C2EC0C92049E}"/>
              </a:ext>
            </a:extLst>
          </p:cNvPr>
          <p:cNvSpPr txBox="1"/>
          <p:nvPr/>
        </p:nvSpPr>
        <p:spPr>
          <a:xfrm>
            <a:off x="5387340" y="3242271"/>
            <a:ext cx="6101080" cy="27357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608B4E"/>
                </a:solidFill>
                <a:effectLst/>
                <a:latin typeface="Consolas" panose="020B0609020204030204" pitchFamily="49" charset="0"/>
              </a:rPr>
              <a:t>//Klasse Knoten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499CD6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enthält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DatenElement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de-DE" b="1" dirty="0" err="1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de-DE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   }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nachfolger</a:t>
            </a:r>
            <a:r>
              <a:rPr lang="de-DE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enthält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   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36BE28D-4F1F-BE48-6D21-EC5811C41908}"/>
              </a:ext>
            </a:extLst>
          </p:cNvPr>
          <p:cNvSpPr txBox="1"/>
          <p:nvPr/>
        </p:nvSpPr>
        <p:spPr>
          <a:xfrm>
            <a:off x="4988560" y="3942625"/>
            <a:ext cx="5466080" cy="401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</a:pP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  <a:sym typeface="Wingdings" pitchFamily="2" charset="2"/>
              </a:rPr>
              <a:t>    </a:t>
            </a:r>
            <a:r>
              <a:rPr lang="de-DE" b="1" dirty="0" err="1">
                <a:solidFill>
                  <a:srgbClr val="BB96C0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this</a:t>
            </a:r>
            <a:r>
              <a:rPr lang="de-DE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9CDCFE"/>
                </a:solidFill>
                <a:latin typeface="Consolas" panose="020B0609020204030204" pitchFamily="49" charset="0"/>
              </a:rPr>
              <a:t>daten</a:t>
            </a:r>
            <a:r>
              <a:rPr lang="de-DE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equals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daten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))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endParaRPr lang="de-DE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98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349D7-C2AB-726C-8F72-70FD5E7F5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01344D-A222-9CB1-C056-90A255AE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Überprüfen ob ein Element Enthalten ist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0EA55EB-624E-9B55-0B7F-EECBCA797993}"/>
              </a:ext>
            </a:extLst>
          </p:cNvPr>
          <p:cNvSpPr txBox="1"/>
          <p:nvPr/>
        </p:nvSpPr>
        <p:spPr>
          <a:xfrm>
            <a:off x="302174" y="1971715"/>
            <a:ext cx="6101080" cy="14020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</a:pP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// Klasse </a:t>
            </a:r>
            <a:r>
              <a:rPr lang="de-DE" dirty="0" err="1">
                <a:solidFill>
                  <a:srgbClr val="608B4E"/>
                </a:solidFill>
                <a:latin typeface="Consolas" panose="020B0609020204030204" pitchFamily="49" charset="0"/>
              </a:rPr>
              <a:t>ListenElement</a:t>
            </a:r>
            <a:endParaRPr lang="de-DE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499CD6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enthält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DatenElement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anfang</a:t>
            </a:r>
            <a:r>
              <a:rPr lang="de-DE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enthält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3420305-D0D0-5EC9-83A8-3B409706F722}"/>
              </a:ext>
            </a:extLst>
          </p:cNvPr>
          <p:cNvSpPr txBox="1"/>
          <p:nvPr/>
        </p:nvSpPr>
        <p:spPr>
          <a:xfrm>
            <a:off x="5387340" y="3242271"/>
            <a:ext cx="6101080" cy="27357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608B4E"/>
                </a:solidFill>
                <a:effectLst/>
                <a:latin typeface="Consolas" panose="020B0609020204030204" pitchFamily="49" charset="0"/>
              </a:rPr>
              <a:t>//Klasse Knoten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499CD6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enthält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DatenElement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de-DE" b="1" dirty="0" err="1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de-DE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   }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nachfolger</a:t>
            </a:r>
            <a:r>
              <a:rPr lang="de-DE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enthält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   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8C2188-6C9F-D0ED-8113-AD67386B32D7}"/>
              </a:ext>
            </a:extLst>
          </p:cNvPr>
          <p:cNvSpPr txBox="1"/>
          <p:nvPr/>
        </p:nvSpPr>
        <p:spPr>
          <a:xfrm>
            <a:off x="302174" y="3929178"/>
            <a:ext cx="5466080" cy="401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</a:pP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  <a:sym typeface="Wingdings" pitchFamily="2" charset="2"/>
              </a:rPr>
              <a:t>    </a:t>
            </a:r>
            <a:r>
              <a:rPr lang="de-DE" b="1" dirty="0" err="1">
                <a:solidFill>
                  <a:srgbClr val="BB96C0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this</a:t>
            </a:r>
            <a:r>
              <a:rPr lang="de-DE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9CDCFE"/>
                </a:solidFill>
                <a:latin typeface="Consolas" panose="020B0609020204030204" pitchFamily="49" charset="0"/>
              </a:rPr>
              <a:t>daten</a:t>
            </a:r>
            <a:r>
              <a:rPr lang="de-DE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equals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daten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))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endParaRPr lang="de-DE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298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2AD1A7-E958-C2FC-15E8-D9A64B471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Equals(Dataelement Data)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07FAB9-45F6-0E71-029C-408A93BF2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4237150"/>
          </a:xfrm>
        </p:spPr>
        <p:txBody>
          <a:bodyPr>
            <a:normAutofit/>
          </a:bodyPr>
          <a:lstStyle/>
          <a:p>
            <a:r>
              <a:rPr lang="de-DE" dirty="0"/>
              <a:t>Die Umsetzung der Methode </a:t>
            </a:r>
            <a:r>
              <a:rPr lang="de-DE" dirty="0" err="1"/>
              <a:t>equals</a:t>
            </a:r>
            <a:r>
              <a:rPr lang="de-DE" dirty="0"/>
              <a:t>(…) stellt sicher, dass die beiden zu Vergleichenden Elemente Inhaltlich die gleichen sind. Ein Taxi ist beispielsweise eindeutig mittels Nummer und Fahrername identifizierbar </a:t>
            </a:r>
          </a:p>
          <a:p>
            <a:pPr lvl="1"/>
            <a:r>
              <a:rPr lang="de-DE" dirty="0"/>
              <a:t>(</a:t>
            </a:r>
            <a:r>
              <a:rPr lang="de-DE" dirty="0">
                <a:sym typeface="Wingdings" panose="05000000000000000000" pitchFamily="2" charset="2"/>
              </a:rPr>
              <a:t> 9te Klasse – Themenbereich Datenbanken: Primärschlüssel) </a:t>
            </a:r>
          </a:p>
          <a:p>
            <a:r>
              <a:rPr lang="de-DE" dirty="0">
                <a:sym typeface="Wingdings" panose="05000000000000000000" pitchFamily="2" charset="2"/>
              </a:rPr>
              <a:t>Equals überprüft zunächst für ein gegebenes Dataelement, ob es sich um ein Objekt der Klasse Taxi handelt, damit das Dataobjekt anschließend als Taxiobjekt behandelt werden kann.</a:t>
            </a:r>
          </a:p>
          <a:p>
            <a:r>
              <a:rPr lang="de-DE" dirty="0">
                <a:sym typeface="Wingdings" panose="05000000000000000000" pitchFamily="2" charset="2"/>
              </a:rPr>
              <a:t>Anschließend können entweder die Attribute Nummer und Fahrername der beiden Objekte 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this</a:t>
            </a:r>
            <a:r>
              <a:rPr lang="de-DE" dirty="0">
                <a:sym typeface="Wingdings" panose="05000000000000000000" pitchFamily="2" charset="2"/>
              </a:rPr>
              <a:t> und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daten</a:t>
            </a:r>
            <a:r>
              <a:rPr lang="de-DE" dirty="0">
                <a:sym typeface="Wingdings" panose="05000000000000000000" pitchFamily="2" charset="2"/>
              </a:rPr>
              <a:t>) auf Gleichheit überprüft werden oder …</a:t>
            </a:r>
          </a:p>
          <a:p>
            <a:r>
              <a:rPr lang="de-DE" dirty="0"/>
              <a:t>Wenn </a:t>
            </a:r>
            <a:r>
              <a:rPr lang="de-DE" dirty="0" err="1"/>
              <a:t>toString</a:t>
            </a:r>
            <a:r>
              <a:rPr lang="de-DE" dirty="0"/>
              <a:t>() sauber umgesetzt wurde, kann auch dies genutzt werden. </a:t>
            </a:r>
          </a:p>
        </p:txBody>
      </p:sp>
    </p:spTree>
    <p:extLst>
      <p:ext uri="{BB962C8B-B14F-4D97-AF65-F5344CB8AC3E}">
        <p14:creationId xmlns:p14="http://schemas.microsoft.com/office/powerpoint/2010/main" val="2274434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E04225-B352-23F6-4596-F4B07E5C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equals</a:t>
            </a:r>
            <a:r>
              <a:rPr lang="de-DE" dirty="0"/>
              <a:t> in Taxi mit </a:t>
            </a:r>
            <a:r>
              <a:rPr lang="de-DE" dirty="0" err="1"/>
              <a:t>toString</a:t>
            </a:r>
            <a:r>
              <a:rPr lang="de-DE" dirty="0"/>
              <a:t>()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03852C-1F55-CC2F-68BF-9DA308B8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14" y="2224454"/>
            <a:ext cx="9603275" cy="345061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BCB80D6-22BD-A927-326E-62C6023535C8}"/>
              </a:ext>
            </a:extLst>
          </p:cNvPr>
          <p:cNvSpPr txBox="1"/>
          <p:nvPr/>
        </p:nvSpPr>
        <p:spPr>
          <a:xfrm>
            <a:off x="1054014" y="2224454"/>
            <a:ext cx="9603274" cy="30931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de-DE" sz="2400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400" b="0" dirty="0" err="1">
                <a:solidFill>
                  <a:srgbClr val="499CD6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400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400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DatenElement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b="1" dirty="0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de-DE" sz="2400" b="1" dirty="0" err="1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sz="2400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2400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getClass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de-DE" sz="2400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400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sz="2400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2400" b="0" dirty="0" err="1">
                <a:solidFill>
                  <a:srgbClr val="49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      Taxi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400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endParaRPr lang="de-DE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b="1" dirty="0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de-DE" sz="2400" b="1" dirty="0" err="1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taxi</a:t>
            </a:r>
            <a:r>
              <a:rPr lang="de-DE" sz="2400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2400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de-DE" sz="2400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400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de-DE" sz="2400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2400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()))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sz="2400" b="1" dirty="0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lang="de-DE" sz="2400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400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      }</a:t>
            </a:r>
            <a:endParaRPr lang="de-DE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   }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sz="2400" b="1" dirty="0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de-DE" sz="2400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400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 </a:t>
            </a:r>
            <a:endParaRPr lang="de-DE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610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B245A-26A7-D728-70DB-BA893AA2C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8E8017-DDB6-B232-68F3-3FAE23B3A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Equals in Taxi mit vergleich der Attribute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2073A1-1FE2-1536-A5CA-F6908559C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14" y="2224454"/>
            <a:ext cx="9603275" cy="345061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DFCC6F-D8C0-257F-F8C9-4C7AF3C467C8}"/>
              </a:ext>
            </a:extLst>
          </p:cNvPr>
          <p:cNvSpPr txBox="1"/>
          <p:nvPr/>
        </p:nvSpPr>
        <p:spPr>
          <a:xfrm>
            <a:off x="1054014" y="2224454"/>
            <a:ext cx="9603274" cy="34025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public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 err="1">
                <a:solidFill>
                  <a:srgbClr val="499CD6"/>
                </a:solidFill>
                <a:latin typeface="Consolas" panose="020B0609020204030204" pitchFamily="49" charset="0"/>
              </a:rPr>
              <a:t>boolean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equals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sz="2400" dirty="0" err="1">
                <a:solidFill>
                  <a:srgbClr val="3DC9B0"/>
                </a:solidFill>
                <a:latin typeface="Consolas" panose="020B0609020204030204" pitchFamily="49" charset="0"/>
              </a:rPr>
              <a:t>DatenElement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9CDCFE"/>
                </a:solidFill>
                <a:latin typeface="Consolas" panose="020B0609020204030204" pitchFamily="49" charset="0"/>
              </a:rPr>
              <a:t>daten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)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endParaRPr lang="de-D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b="1" dirty="0">
                <a:solidFill>
                  <a:srgbClr val="BB96C0"/>
                </a:solidFill>
                <a:latin typeface="Consolas" panose="020B0609020204030204" pitchFamily="49" charset="0"/>
              </a:rPr>
              <a:t>   </a:t>
            </a:r>
            <a:r>
              <a:rPr lang="de-DE" sz="2400" b="1" dirty="0" err="1">
                <a:solidFill>
                  <a:srgbClr val="BB96C0"/>
                </a:solidFill>
                <a:latin typeface="Consolas" panose="020B0609020204030204" pitchFamily="49" charset="0"/>
              </a:rPr>
              <a:t>if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daten</a:t>
            </a:r>
            <a:r>
              <a:rPr lang="de-DE" sz="2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sz="2400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getClass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().</a:t>
            </a:r>
            <a:r>
              <a:rPr lang="de-DE" sz="2400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equals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sz="2400" dirty="0" err="1">
                <a:solidFill>
                  <a:srgbClr val="3DC9B0"/>
                </a:solidFill>
                <a:latin typeface="Consolas" panose="020B0609020204030204" pitchFamily="49" charset="0"/>
              </a:rPr>
              <a:t>Taxi</a:t>
            </a:r>
            <a:r>
              <a:rPr lang="de-DE" sz="2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sz="2400" dirty="0" err="1">
                <a:solidFill>
                  <a:srgbClr val="499CD6"/>
                </a:solidFill>
                <a:latin typeface="Consolas" panose="020B0609020204030204" pitchFamily="49" charset="0"/>
              </a:rPr>
              <a:t>class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))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endParaRPr lang="de-D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dirty="0">
                <a:solidFill>
                  <a:srgbClr val="3DC9B0"/>
                </a:solidFill>
                <a:latin typeface="Consolas" panose="020B0609020204030204" pitchFamily="49" charset="0"/>
              </a:rPr>
              <a:t>      Taxi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taxi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=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sz="2400" dirty="0">
                <a:solidFill>
                  <a:srgbClr val="3DC9B0"/>
                </a:solidFill>
                <a:latin typeface="Consolas" panose="020B0609020204030204" pitchFamily="49" charset="0"/>
              </a:rPr>
              <a:t>Taxi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)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9CDCFE"/>
                </a:solidFill>
                <a:latin typeface="Consolas" panose="020B0609020204030204" pitchFamily="49" charset="0"/>
              </a:rPr>
              <a:t>daten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;</a:t>
            </a:r>
            <a:endParaRPr lang="de-D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b="1" dirty="0">
                <a:solidFill>
                  <a:srgbClr val="BB96C0"/>
                </a:solidFill>
                <a:latin typeface="Consolas" panose="020B0609020204030204" pitchFamily="49" charset="0"/>
              </a:rPr>
              <a:t>      </a:t>
            </a:r>
            <a:r>
              <a:rPr lang="de-DE" sz="2400" b="1" dirty="0" err="1">
                <a:solidFill>
                  <a:srgbClr val="BB96C0"/>
                </a:solidFill>
                <a:latin typeface="Consolas" panose="020B0609020204030204" pitchFamily="49" charset="0"/>
              </a:rPr>
              <a:t>if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taxi</a:t>
            </a:r>
            <a:r>
              <a:rPr lang="de-DE" sz="2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fahrerName</a:t>
            </a:r>
            <a:r>
              <a:rPr lang="de-DE" sz="2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sz="2400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equals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this</a:t>
            </a:r>
            <a:r>
              <a:rPr lang="de-DE" sz="2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fahrerName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)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            &amp;&amp;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taxi</a:t>
            </a:r>
            <a:r>
              <a:rPr lang="de-DE" sz="2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autonummer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==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this</a:t>
            </a:r>
            <a:r>
              <a:rPr lang="de-DE" sz="2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autonummer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)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sz="2400" b="1" dirty="0">
                <a:solidFill>
                  <a:srgbClr val="68BED4"/>
                </a:solidFill>
                <a:latin typeface="Consolas" panose="020B0609020204030204" pitchFamily="49" charset="0"/>
              </a:rPr>
              <a:t>         </a:t>
            </a: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return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true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;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      }</a:t>
            </a:r>
            <a:endParaRPr lang="de-D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   }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sz="2400" b="1" dirty="0">
                <a:solidFill>
                  <a:srgbClr val="68BED4"/>
                </a:solidFill>
                <a:latin typeface="Consolas" panose="020B0609020204030204" pitchFamily="49" charset="0"/>
              </a:rPr>
              <a:t>   </a:t>
            </a: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return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false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;</a:t>
            </a:r>
            <a:endParaRPr lang="de-D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}</a:t>
            </a:r>
            <a:endParaRPr lang="de-D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511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4771D-E37E-0EFB-8089-67E813A31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08BD14-DBD4-966C-03C9-C9BEE87BD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Equals in Taxi mit vergleich der Attribute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80F70F-7523-A6B9-0858-0C9D4978A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14" y="2224454"/>
            <a:ext cx="9603275" cy="345061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48F4AD5-D1D5-0832-85B6-2B3957BA816B}"/>
              </a:ext>
            </a:extLst>
          </p:cNvPr>
          <p:cNvSpPr txBox="1"/>
          <p:nvPr/>
        </p:nvSpPr>
        <p:spPr>
          <a:xfrm>
            <a:off x="1054014" y="2224454"/>
            <a:ext cx="9603274" cy="34025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public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 err="1">
                <a:solidFill>
                  <a:srgbClr val="499CD6"/>
                </a:solidFill>
                <a:latin typeface="Consolas" panose="020B0609020204030204" pitchFamily="49" charset="0"/>
              </a:rPr>
              <a:t>boolean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equals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sz="2400" dirty="0" err="1">
                <a:solidFill>
                  <a:srgbClr val="3DC9B0"/>
                </a:solidFill>
                <a:latin typeface="Consolas" panose="020B0609020204030204" pitchFamily="49" charset="0"/>
              </a:rPr>
              <a:t>DatenElement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9CDCFE"/>
                </a:solidFill>
                <a:latin typeface="Consolas" panose="020B0609020204030204" pitchFamily="49" charset="0"/>
              </a:rPr>
              <a:t>daten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)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endParaRPr lang="de-D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b="1" dirty="0">
                <a:solidFill>
                  <a:srgbClr val="BB96C0"/>
                </a:solidFill>
                <a:latin typeface="Consolas" panose="020B0609020204030204" pitchFamily="49" charset="0"/>
              </a:rPr>
              <a:t>   </a:t>
            </a:r>
            <a:r>
              <a:rPr lang="de-DE" sz="2400" b="1" dirty="0" err="1">
                <a:solidFill>
                  <a:srgbClr val="BB96C0"/>
                </a:solidFill>
                <a:latin typeface="Consolas" panose="020B0609020204030204" pitchFamily="49" charset="0"/>
              </a:rPr>
              <a:t>if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daten</a:t>
            </a:r>
            <a:r>
              <a:rPr lang="de-DE" sz="2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sz="2400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getClass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().</a:t>
            </a:r>
            <a:r>
              <a:rPr lang="de-DE" sz="2400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equals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sz="2400" dirty="0" err="1">
                <a:solidFill>
                  <a:srgbClr val="3DC9B0"/>
                </a:solidFill>
                <a:latin typeface="Consolas" panose="020B0609020204030204" pitchFamily="49" charset="0"/>
              </a:rPr>
              <a:t>Taxi</a:t>
            </a:r>
            <a:r>
              <a:rPr lang="de-DE" sz="2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sz="2400" dirty="0" err="1">
                <a:solidFill>
                  <a:srgbClr val="499CD6"/>
                </a:solidFill>
                <a:latin typeface="Consolas" panose="020B0609020204030204" pitchFamily="49" charset="0"/>
              </a:rPr>
              <a:t>class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))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endParaRPr lang="de-D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dirty="0">
                <a:solidFill>
                  <a:srgbClr val="3DC9B0"/>
                </a:solidFill>
                <a:latin typeface="Consolas" panose="020B0609020204030204" pitchFamily="49" charset="0"/>
              </a:rPr>
              <a:t>      Taxi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taxi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=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sz="2400" dirty="0">
                <a:solidFill>
                  <a:srgbClr val="3DC9B0"/>
                </a:solidFill>
                <a:latin typeface="Consolas" panose="020B0609020204030204" pitchFamily="49" charset="0"/>
              </a:rPr>
              <a:t>Taxi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)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9CDCFE"/>
                </a:solidFill>
                <a:latin typeface="Consolas" panose="020B0609020204030204" pitchFamily="49" charset="0"/>
              </a:rPr>
              <a:t>daten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;</a:t>
            </a:r>
            <a:endParaRPr lang="de-D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b="1" dirty="0">
                <a:solidFill>
                  <a:srgbClr val="BB96C0"/>
                </a:solidFill>
                <a:latin typeface="Consolas" panose="020B0609020204030204" pitchFamily="49" charset="0"/>
              </a:rPr>
              <a:t>      </a:t>
            </a:r>
            <a:r>
              <a:rPr lang="de-DE" sz="2400" b="1" dirty="0" err="1">
                <a:solidFill>
                  <a:srgbClr val="BB96C0"/>
                </a:solidFill>
                <a:latin typeface="Consolas" panose="020B0609020204030204" pitchFamily="49" charset="0"/>
              </a:rPr>
              <a:t>if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taxi</a:t>
            </a:r>
            <a:r>
              <a:rPr lang="de-DE" sz="2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fahrerName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 == </a:t>
            </a: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this</a:t>
            </a:r>
            <a:r>
              <a:rPr lang="de-DE" sz="2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fahrerName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            &amp;&amp;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taxi</a:t>
            </a:r>
            <a:r>
              <a:rPr lang="de-DE" sz="2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autonummer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==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this</a:t>
            </a:r>
            <a:r>
              <a:rPr lang="de-DE" sz="2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autonummer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)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sz="2400" b="1" dirty="0">
                <a:solidFill>
                  <a:srgbClr val="68BED4"/>
                </a:solidFill>
                <a:latin typeface="Consolas" panose="020B0609020204030204" pitchFamily="49" charset="0"/>
              </a:rPr>
              <a:t>         </a:t>
            </a: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return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true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;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      }</a:t>
            </a:r>
            <a:endParaRPr lang="de-D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   }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sz="2400" b="1" dirty="0">
                <a:solidFill>
                  <a:srgbClr val="68BED4"/>
                </a:solidFill>
                <a:latin typeface="Consolas" panose="020B0609020204030204" pitchFamily="49" charset="0"/>
              </a:rPr>
              <a:t>   </a:t>
            </a: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return</a:t>
            </a:r>
            <a:r>
              <a:rPr lang="de-DE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sz="2400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false</a:t>
            </a: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;</a:t>
            </a:r>
            <a:endParaRPr lang="de-D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sz="2400" dirty="0">
                <a:solidFill>
                  <a:srgbClr val="DCDCDC"/>
                </a:solidFill>
                <a:latin typeface="Consolas" panose="020B0609020204030204" pitchFamily="49" charset="0"/>
              </a:rPr>
              <a:t>}</a:t>
            </a:r>
            <a:endParaRPr lang="de-DE" sz="2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254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1ADF15-34F8-3FE1-6971-AB06BA70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Wozu Equals?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59569F-429C-6E9E-6D2C-772E48A86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56468"/>
          </a:xfrm>
        </p:spPr>
        <p:txBody>
          <a:bodyPr>
            <a:normAutofit/>
          </a:bodyPr>
          <a:lstStyle/>
          <a:p>
            <a:r>
              <a:rPr lang="de-DE" dirty="0"/>
              <a:t>Primitive Datentypen wie </a:t>
            </a:r>
            <a:r>
              <a:rPr lang="de-DE" dirty="0" err="1"/>
              <a:t>int</a:t>
            </a:r>
            <a:r>
              <a:rPr lang="de-DE" dirty="0"/>
              <a:t>, double, </a:t>
            </a:r>
            <a:r>
              <a:rPr lang="de-DE" dirty="0" err="1"/>
              <a:t>boolean</a:t>
            </a:r>
            <a:r>
              <a:rPr lang="de-DE" dirty="0"/>
              <a:t> (Beachte: Kleingeschrieben) können einfach mittels == auf Wertgleichheit geprüft werden </a:t>
            </a:r>
          </a:p>
          <a:p>
            <a:r>
              <a:rPr lang="de-DE" dirty="0"/>
              <a:t>Für komplexe Datentypen (Integer oder Referenzattribute wie Knoten, Patient, Queue, …) gilt dies nicht! </a:t>
            </a:r>
          </a:p>
          <a:p>
            <a:r>
              <a:rPr lang="de-DE" dirty="0"/>
              <a:t>Hier prüft == ob die Referenz auf das exakt gleiche Objekt zeigt, also die Adresse im Speicher gleich ist</a:t>
            </a:r>
          </a:p>
          <a:p>
            <a:pPr lvl="1"/>
            <a:r>
              <a:rPr lang="de-DE" dirty="0"/>
              <a:t>da komplexe Datentypen zu unterschiedlich sind (</a:t>
            </a:r>
            <a:r>
              <a:rPr lang="de-DE" dirty="0">
                <a:sym typeface="Wingdings" panose="05000000000000000000" pitchFamily="2" charset="2"/>
              </a:rPr>
              <a:t> viele verschiedene Attribute, welche nicht zwangsweise für Gleichheit erforderlich sind)</a:t>
            </a:r>
          </a:p>
          <a:p>
            <a:r>
              <a:rPr lang="de-DE" dirty="0">
                <a:sym typeface="Wingdings" panose="05000000000000000000" pitchFamily="2" charset="2"/>
              </a:rPr>
              <a:t>Es muss also manuell eine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equals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(…)</a:t>
            </a:r>
            <a:r>
              <a:rPr lang="de-DE" dirty="0">
                <a:sym typeface="Wingdings" panose="05000000000000000000" pitchFamily="2" charset="2"/>
              </a:rPr>
              <a:t> Methode implementiert werden, die wiederum die ausgewählten Attribute auf Gleichheit prüft.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4848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3140-BD57-2E98-3391-54E5C3213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66C90E-8542-37FD-6097-47AA29141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14" y="292226"/>
            <a:ext cx="9603275" cy="1049235"/>
          </a:xfrm>
        </p:spPr>
        <p:txBody>
          <a:bodyPr/>
          <a:lstStyle/>
          <a:p>
            <a:r>
              <a:rPr lang="de-DE" dirty="0"/>
              <a:t>Weiteres 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D69D0C-9C3D-0658-67EA-6FA35EEF3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14" y="2224454"/>
            <a:ext cx="9603275" cy="345061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6AEA259-3D81-210E-7D87-597E044559DA}"/>
              </a:ext>
            </a:extLst>
          </p:cNvPr>
          <p:cNvSpPr txBox="1"/>
          <p:nvPr/>
        </p:nvSpPr>
        <p:spPr>
          <a:xfrm>
            <a:off x="226359" y="1049286"/>
            <a:ext cx="11739282" cy="30691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499CD6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otherObject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de-DE" b="1" dirty="0" err="1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otherObject</a:t>
            </a:r>
            <a:r>
              <a:rPr lang="de-DE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getClass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de-DE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Knoten</a:t>
            </a:r>
            <a:r>
              <a:rPr lang="de-DE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dirty="0" err="1">
                <a:solidFill>
                  <a:srgbClr val="49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de-DE" dirty="0">
                <a:solidFill>
                  <a:srgbClr val="3DC9B0"/>
                </a:solidFill>
                <a:latin typeface="Consolas" panose="020B0609020204030204" pitchFamily="49" charset="0"/>
              </a:rPr>
              <a:t>Knoten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knoten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3DC9B0"/>
                </a:solidFill>
                <a:latin typeface="Consolas" panose="020B0609020204030204" pitchFamily="49" charset="0"/>
              </a:rPr>
              <a:t>Knoten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)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Consolas" panose="020B0609020204030204" pitchFamily="49" charset="0"/>
              </a:rPr>
              <a:t>otherObject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</a:p>
          <a:p>
            <a:pPr>
              <a:lnSpc>
                <a:spcPts val="2625"/>
              </a:lnSpc>
              <a:buNone/>
            </a:pP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     </a:t>
            </a:r>
            <a:r>
              <a:rPr lang="de-DE" b="1" dirty="0" err="1">
                <a:solidFill>
                  <a:srgbClr val="BB96C0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9CDCFE"/>
                </a:solidFill>
                <a:latin typeface="Consolas" panose="020B0609020204030204" pitchFamily="49" charset="0"/>
              </a:rPr>
              <a:t>knoten</a:t>
            </a:r>
            <a:r>
              <a:rPr lang="de-DE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getDaten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().</a:t>
            </a:r>
            <a:r>
              <a:rPr lang="de-DE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equals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this</a:t>
            </a:r>
            <a:r>
              <a:rPr lang="de-DE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9CDCFE"/>
                </a:solidFill>
                <a:latin typeface="Consolas" panose="020B0609020204030204" pitchFamily="49" charset="0"/>
              </a:rPr>
              <a:t>daten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))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endParaRPr lang="de-DE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68BED4"/>
                </a:solidFill>
                <a:latin typeface="Consolas" panose="020B0609020204030204" pitchFamily="49" charset="0"/>
              </a:rPr>
              <a:t>         </a:t>
            </a:r>
            <a:r>
              <a:rPr lang="de-DE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true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      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   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555ABBE-AC62-C94B-0739-DD50B490F5BC}"/>
              </a:ext>
            </a:extLst>
          </p:cNvPr>
          <p:cNvSpPr txBox="1"/>
          <p:nvPr/>
        </p:nvSpPr>
        <p:spPr>
          <a:xfrm>
            <a:off x="226359" y="4489160"/>
            <a:ext cx="11739282" cy="20689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de-DE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DatenElement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Patient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"Schorsch"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Hinterdupfing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"Meteorismus"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Knoten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k1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Knoten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608B4E"/>
                </a:solidFill>
                <a:effectLst/>
                <a:latin typeface="Consolas" panose="020B0609020204030204" pitchFamily="49" charset="0"/>
              </a:rPr>
              <a:t>// Speicheradresse Knoten@7cc355be 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Knoten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k2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Knoten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608B4E"/>
                </a:solidFill>
                <a:effectLst/>
                <a:latin typeface="Consolas" panose="020B0609020204030204" pitchFamily="49" charset="0"/>
              </a:rPr>
              <a:t>// Speicheradresse Knoten@6e8cf4c6 </a:t>
            </a:r>
          </a:p>
          <a:p>
            <a:pPr>
              <a:lnSpc>
                <a:spcPts val="2625"/>
              </a:lnSpc>
            </a:pP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k1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i="1" dirty="0">
                <a:solidFill>
                  <a:srgbClr val="DCDCAA"/>
                </a:solidFill>
                <a:latin typeface="Consolas" panose="020B0609020204030204" pitchFamily="49" charset="0"/>
              </a:rPr>
              <a:t>setNachfolger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k2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);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k1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k2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// </a:t>
            </a:r>
            <a:r>
              <a:rPr lang="de-DE" dirty="0" err="1">
                <a:solidFill>
                  <a:srgbClr val="608B4E"/>
                </a:solidFill>
                <a:latin typeface="Consolas" panose="020B0609020204030204" pitchFamily="49" charset="0"/>
              </a:rPr>
              <a:t>true</a:t>
            </a: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 oder </a:t>
            </a:r>
            <a:r>
              <a:rPr lang="de-DE" dirty="0" err="1">
                <a:solidFill>
                  <a:srgbClr val="608B4E"/>
                </a:solidFill>
                <a:latin typeface="Consolas" panose="020B0609020204030204" pitchFamily="49" charset="0"/>
              </a:rPr>
              <a:t>false</a:t>
            </a: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? </a:t>
            </a:r>
            <a:endParaRPr lang="de-DE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k1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i="1" dirty="0">
                <a:solidFill>
                  <a:srgbClr val="DCDCAA"/>
                </a:solidFill>
                <a:latin typeface="Consolas" panose="020B0609020204030204" pitchFamily="49" charset="0"/>
              </a:rPr>
              <a:t>equals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k2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));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// </a:t>
            </a:r>
            <a:r>
              <a:rPr lang="de-DE" dirty="0" err="1">
                <a:solidFill>
                  <a:srgbClr val="608B4E"/>
                </a:solidFill>
                <a:latin typeface="Consolas" panose="020B0609020204030204" pitchFamily="49" charset="0"/>
              </a:rPr>
              <a:t>true</a:t>
            </a: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 oder </a:t>
            </a:r>
            <a:r>
              <a:rPr lang="de-DE" dirty="0" err="1">
                <a:solidFill>
                  <a:srgbClr val="608B4E"/>
                </a:solidFill>
                <a:latin typeface="Consolas" panose="020B0609020204030204" pitchFamily="49" charset="0"/>
              </a:rPr>
              <a:t>false</a:t>
            </a: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? </a:t>
            </a:r>
            <a:endParaRPr lang="de-DE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741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CC3A3-1ED6-98C1-8798-3565B3C4D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E4EF28-8377-6670-A521-52A635E76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14" y="292226"/>
            <a:ext cx="9603275" cy="1049235"/>
          </a:xfrm>
        </p:spPr>
        <p:txBody>
          <a:bodyPr/>
          <a:lstStyle/>
          <a:p>
            <a:r>
              <a:rPr lang="de-DE" dirty="0"/>
              <a:t>Weiteres 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B60B26-4F20-FF0E-6F9F-362C4329C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14" y="2224454"/>
            <a:ext cx="9603275" cy="345061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962510C-1EA3-BE48-9DE1-D63CD2D093D4}"/>
              </a:ext>
            </a:extLst>
          </p:cNvPr>
          <p:cNvSpPr txBox="1"/>
          <p:nvPr/>
        </p:nvSpPr>
        <p:spPr>
          <a:xfrm>
            <a:off x="226359" y="1049286"/>
            <a:ext cx="11739282" cy="30691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499CD6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otherObject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de-DE" b="1" dirty="0" err="1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otherObject</a:t>
            </a:r>
            <a:r>
              <a:rPr lang="de-DE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getClass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de-DE" b="0" i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Knoten</a:t>
            </a:r>
            <a:r>
              <a:rPr lang="de-DE" b="0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dirty="0" err="1">
                <a:solidFill>
                  <a:srgbClr val="49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BB96C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de-DE" dirty="0">
                <a:solidFill>
                  <a:srgbClr val="3DC9B0"/>
                </a:solidFill>
                <a:latin typeface="Consolas" panose="020B0609020204030204" pitchFamily="49" charset="0"/>
              </a:rPr>
              <a:t>Knoten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knoten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3DC9B0"/>
                </a:solidFill>
                <a:latin typeface="Consolas" panose="020B0609020204030204" pitchFamily="49" charset="0"/>
              </a:rPr>
              <a:t>Knoten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)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Consolas" panose="020B0609020204030204" pitchFamily="49" charset="0"/>
              </a:rPr>
              <a:t>otherObject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</a:p>
          <a:p>
            <a:pPr>
              <a:lnSpc>
                <a:spcPts val="2625"/>
              </a:lnSpc>
              <a:buNone/>
            </a:pP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     </a:t>
            </a:r>
            <a:r>
              <a:rPr lang="de-DE" b="1" dirty="0" err="1">
                <a:solidFill>
                  <a:srgbClr val="BB96C0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9CDCFE"/>
                </a:solidFill>
                <a:latin typeface="Consolas" panose="020B0609020204030204" pitchFamily="49" charset="0"/>
              </a:rPr>
              <a:t>knoten</a:t>
            </a:r>
            <a:r>
              <a:rPr lang="de-DE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getDaten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().</a:t>
            </a:r>
            <a:r>
              <a:rPr lang="de-DE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equals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this</a:t>
            </a:r>
            <a:r>
              <a:rPr lang="de-DE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9CDCFE"/>
                </a:solidFill>
                <a:latin typeface="Consolas" panose="020B0609020204030204" pitchFamily="49" charset="0"/>
              </a:rPr>
              <a:t>daten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) &amp;&amp;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Consolas" panose="020B0609020204030204" pitchFamily="49" charset="0"/>
              </a:rPr>
              <a:t>knoten</a:t>
            </a:r>
            <a:r>
              <a:rPr lang="de-DE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9CDCFE"/>
                </a:solidFill>
                <a:latin typeface="Consolas" panose="020B0609020204030204" pitchFamily="49" charset="0"/>
              </a:rPr>
              <a:t>nachfolger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this</a:t>
            </a:r>
            <a:r>
              <a:rPr lang="de-DE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9CDCFE"/>
                </a:solidFill>
                <a:latin typeface="Consolas" panose="020B0609020204030204" pitchFamily="49" charset="0"/>
              </a:rPr>
              <a:t>nachfolger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)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endParaRPr lang="de-DE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68BED4"/>
                </a:solidFill>
                <a:latin typeface="Consolas" panose="020B0609020204030204" pitchFamily="49" charset="0"/>
              </a:rPr>
              <a:t>         </a:t>
            </a:r>
            <a:r>
              <a:rPr lang="de-DE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latin typeface="Consolas" panose="020B0609020204030204" pitchFamily="49" charset="0"/>
              </a:rPr>
              <a:t>true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2625"/>
              </a:lnSpc>
              <a:buNone/>
            </a:pP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      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   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dirty="0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F24CBE2-326A-5474-9690-2641D309880B}"/>
              </a:ext>
            </a:extLst>
          </p:cNvPr>
          <p:cNvSpPr txBox="1"/>
          <p:nvPr/>
        </p:nvSpPr>
        <p:spPr>
          <a:xfrm>
            <a:off x="226359" y="4489160"/>
            <a:ext cx="11739282" cy="20689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625"/>
              </a:lnSpc>
              <a:buNone/>
            </a:pPr>
            <a:r>
              <a:rPr lang="de-DE" b="0" dirty="0" err="1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DatenElement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Patient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"Schorsch"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Hinterdupfing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"Meteorismus"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Knoten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k1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Knoten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608B4E"/>
                </a:solidFill>
                <a:effectLst/>
                <a:latin typeface="Consolas" panose="020B0609020204030204" pitchFamily="49" charset="0"/>
              </a:rPr>
              <a:t>// Speicheradresse Knoten@7cc355be 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Knoten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k2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68BED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3DC9B0"/>
                </a:solidFill>
                <a:effectLst/>
                <a:latin typeface="Consolas" panose="020B0609020204030204" pitchFamily="49" charset="0"/>
              </a:rPr>
              <a:t>Knoten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daten</a:t>
            </a:r>
            <a:r>
              <a:rPr lang="de-DE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608B4E"/>
                </a:solidFill>
                <a:effectLst/>
                <a:latin typeface="Consolas" panose="020B0609020204030204" pitchFamily="49" charset="0"/>
              </a:rPr>
              <a:t>// Speicheradresse Knoten@6e8cf4c6 </a:t>
            </a:r>
          </a:p>
          <a:p>
            <a:pPr>
              <a:lnSpc>
                <a:spcPts val="2625"/>
              </a:lnSpc>
            </a:pP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k1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i="1" dirty="0">
                <a:solidFill>
                  <a:srgbClr val="DCDCAA"/>
                </a:solidFill>
                <a:latin typeface="Consolas" panose="020B0609020204030204" pitchFamily="49" charset="0"/>
              </a:rPr>
              <a:t>setNachfolger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k2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);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k1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k2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);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// </a:t>
            </a:r>
            <a:r>
              <a:rPr lang="de-DE" dirty="0" err="1">
                <a:solidFill>
                  <a:srgbClr val="608B4E"/>
                </a:solidFill>
                <a:latin typeface="Consolas" panose="020B0609020204030204" pitchFamily="49" charset="0"/>
              </a:rPr>
              <a:t>true</a:t>
            </a: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 oder </a:t>
            </a:r>
            <a:r>
              <a:rPr lang="de-DE" dirty="0" err="1">
                <a:solidFill>
                  <a:srgbClr val="608B4E"/>
                </a:solidFill>
                <a:latin typeface="Consolas" panose="020B0609020204030204" pitchFamily="49" charset="0"/>
              </a:rPr>
              <a:t>false</a:t>
            </a: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? </a:t>
            </a:r>
            <a:endParaRPr lang="de-DE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625"/>
              </a:lnSpc>
              <a:buNone/>
            </a:pPr>
            <a:r>
              <a:rPr lang="de-DE" b="1" i="1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k1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de-DE" i="1" dirty="0">
                <a:solidFill>
                  <a:srgbClr val="DCDCAA"/>
                </a:solidFill>
                <a:latin typeface="Consolas" panose="020B0609020204030204" pitchFamily="49" charset="0"/>
              </a:rPr>
              <a:t>equals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Consolas" panose="020B0609020204030204" pitchFamily="49" charset="0"/>
              </a:rPr>
              <a:t>k2</a:t>
            </a:r>
            <a:r>
              <a:rPr lang="de-DE" dirty="0">
                <a:solidFill>
                  <a:srgbClr val="DCDCDC"/>
                </a:solidFill>
                <a:latin typeface="Consolas" panose="020B0609020204030204" pitchFamily="49" charset="0"/>
              </a:rPr>
              <a:t>));</a:t>
            </a:r>
            <a:r>
              <a:rPr lang="de-DE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// </a:t>
            </a:r>
            <a:r>
              <a:rPr lang="de-DE" dirty="0" err="1">
                <a:solidFill>
                  <a:srgbClr val="608B4E"/>
                </a:solidFill>
                <a:latin typeface="Consolas" panose="020B0609020204030204" pitchFamily="49" charset="0"/>
              </a:rPr>
              <a:t>true</a:t>
            </a: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 oder </a:t>
            </a:r>
            <a:r>
              <a:rPr lang="de-DE" dirty="0" err="1">
                <a:solidFill>
                  <a:srgbClr val="608B4E"/>
                </a:solidFill>
                <a:latin typeface="Consolas" panose="020B0609020204030204" pitchFamily="49" charset="0"/>
              </a:rPr>
              <a:t>false</a:t>
            </a:r>
            <a:r>
              <a:rPr lang="de-DE" dirty="0">
                <a:solidFill>
                  <a:srgbClr val="608B4E"/>
                </a:solidFill>
                <a:latin typeface="Consolas" panose="020B0609020204030204" pitchFamily="49" charset="0"/>
              </a:rPr>
              <a:t>? </a:t>
            </a:r>
            <a:endParaRPr lang="de-DE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858462"/>
      </p:ext>
    </p:extLst>
  </p:cSld>
  <p:clrMapOvr>
    <a:masterClrMapping/>
  </p:clrMapOvr>
</p:sld>
</file>

<file path=ppt/theme/theme1.xml><?xml version="1.0" encoding="utf-8"?>
<a:theme xmlns:a="http://schemas.openxmlformats.org/drawingml/2006/main" name="Katalog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Metadata/LabelInfo.xml><?xml version="1.0" encoding="utf-8"?>
<clbl:labelList xmlns:clbl="http://schemas.microsoft.com/office/2020/mipLabelMetadata">
  <clbl:label id="{8beba445-7f18-4db4-8ec5-db87652741ae}" enabled="1" method="Standard" siteId="{2a0281cf-f457-480d-af42-8beb7b1077b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Katalog</Template>
  <TotalTime>0</TotalTime>
  <Words>1133</Words>
  <Application>Microsoft Macintosh PowerPoint</Application>
  <PresentationFormat>Breitbild</PresentationFormat>
  <Paragraphs>148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1" baseType="lpstr">
      <vt:lpstr>Arial</vt:lpstr>
      <vt:lpstr>Consolas</vt:lpstr>
      <vt:lpstr>Courier New</vt:lpstr>
      <vt:lpstr>Gill Sans MT</vt:lpstr>
      <vt:lpstr>Wingdings</vt:lpstr>
      <vt:lpstr>Katalog</vt:lpstr>
      <vt:lpstr>Equals vs ==</vt:lpstr>
      <vt:lpstr>Enthält(Datenelement daten)</vt:lpstr>
      <vt:lpstr>Überprüfen ob ein Element Enthalten ist</vt:lpstr>
      <vt:lpstr>Equals oder == </vt:lpstr>
      <vt:lpstr>Equals oder == </vt:lpstr>
      <vt:lpstr>Enthält(Datenelement daten)</vt:lpstr>
      <vt:lpstr>Überprüfen ob ein Element Enthalten ist</vt:lpstr>
      <vt:lpstr>Überprüfen ob ein Element Enthalten ist</vt:lpstr>
      <vt:lpstr>Equals(Dataelement Data) </vt:lpstr>
      <vt:lpstr>equals in Taxi mit toString()</vt:lpstr>
      <vt:lpstr>Equals in Taxi mit vergleich der Attribute</vt:lpstr>
      <vt:lpstr>Equals in Taxi mit vergleich der Attribute</vt:lpstr>
      <vt:lpstr>Wozu Equals? </vt:lpstr>
      <vt:lpstr>Weiteres Beispiel</vt:lpstr>
      <vt:lpstr>Weiteres Beispiel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 </dc:title>
  <dc:creator>Karl Haunschild</dc:creator>
  <cp:lastModifiedBy>Karl Haunschild</cp:lastModifiedBy>
  <cp:revision>38</cp:revision>
  <dcterms:created xsi:type="dcterms:W3CDTF">2022-10-20T17:40:30Z</dcterms:created>
  <dcterms:modified xsi:type="dcterms:W3CDTF">2025-12-07T18:54:01Z</dcterms:modified>
</cp:coreProperties>
</file>